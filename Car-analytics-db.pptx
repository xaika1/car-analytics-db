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f32b164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f32b164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f32b1646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f32b1646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f32b1646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f32b1646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f32b1646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f32b1646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f32b1646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f32b1646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f32b1646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f32b1646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f32b1646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f32b1646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f32b1646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f32b1646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</a:t>
            </a:r>
            <a:r>
              <a:rPr lang="ru"/>
              <a:t>ar-analytics-db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Подготовил:Цветков И. В.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820"/>
              <a:t>Цель и задачи</a:t>
            </a:r>
            <a:endParaRPr sz="28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Цель: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Разработка реляционной базы данных для системы аналитики автомобилей и диагностики ошибок OBD2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Задачи:</a:t>
            </a:r>
            <a:endParaRPr b="1">
              <a:solidFill>
                <a:schemeClr val="dk1"/>
              </a:solidFill>
            </a:endParaRPr>
          </a:p>
          <a:p>
            <a:pPr indent="-189230" lvl="0" marL="330001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Изучить теоретические основы проектирования БД</a:t>
            </a:r>
            <a:endParaRPr sz="1600">
              <a:solidFill>
                <a:schemeClr val="dk1"/>
              </a:solidFill>
            </a:endParaRPr>
          </a:p>
          <a:p>
            <a:pPr indent="-189230" lvl="0" marL="33000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Проанализировать предметную область (OBD2)</a:t>
            </a:r>
            <a:endParaRPr sz="1600">
              <a:solidFill>
                <a:schemeClr val="dk1"/>
              </a:solidFill>
            </a:endParaRPr>
          </a:p>
          <a:p>
            <a:pPr indent="-189230" lvl="0" marL="33000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Спроектировать структуру БД в 3NF</a:t>
            </a:r>
            <a:endParaRPr sz="1600">
              <a:solidFill>
                <a:schemeClr val="dk1"/>
              </a:solidFill>
            </a:endParaRPr>
          </a:p>
          <a:p>
            <a:pPr indent="-189230" lvl="0" marL="33000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Реализовать процедуры, функции, триггеры</a:t>
            </a:r>
            <a:endParaRPr sz="1600">
              <a:solidFill>
                <a:schemeClr val="dk1"/>
              </a:solidFill>
            </a:endParaRPr>
          </a:p>
          <a:p>
            <a:pPr indent="-189230" lvl="0" marL="33000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Настроить ролевой доступ</a:t>
            </a:r>
            <a:endParaRPr sz="1600">
              <a:solidFill>
                <a:schemeClr val="dk1"/>
              </a:solidFill>
            </a:endParaRPr>
          </a:p>
          <a:p>
            <a:pPr indent="-189230" lvl="0" marL="33000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Протестировать работоспособность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77300" y="6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Актуальность и предметная область 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35100"/>
            <a:ext cx="8520600" cy="43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dk1"/>
                </a:solidFill>
              </a:rPr>
              <a:t>Актуальность: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dk1"/>
                </a:solidFill>
              </a:rPr>
              <a:t>• Рост количества автомобилей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dk1"/>
                </a:solidFill>
              </a:rPr>
              <a:t>• Необходимость быстрой диагностики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ru" sz="4300">
                <a:solidFill>
                  <a:schemeClr val="dk1"/>
                </a:solidFill>
              </a:rPr>
              <a:t>• Систематизация информации об ошибках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dk1"/>
                </a:solidFill>
              </a:rPr>
              <a:t>Стандарт OBD2 (с 1996 г.):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600">
                <a:solidFill>
                  <a:schemeClr val="dk1"/>
                </a:solidFill>
              </a:rPr>
              <a:t>Категории кодов ошибок:</a:t>
            </a:r>
            <a:endParaRPr sz="4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3650">
                <a:solidFill>
                  <a:schemeClr val="dk1"/>
                </a:solidFill>
              </a:rPr>
              <a:t>• P </a:t>
            </a:r>
            <a:r>
              <a:rPr lang="ru" sz="3750">
                <a:solidFill>
                  <a:schemeClr val="dk1"/>
                </a:solidFill>
              </a:rPr>
              <a:t>— Powertrain (двигатель, КПП)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3650">
                <a:solidFill>
                  <a:schemeClr val="dk1"/>
                </a:solidFill>
              </a:rPr>
              <a:t>• C </a:t>
            </a:r>
            <a:r>
              <a:rPr lang="ru" sz="3750">
                <a:solidFill>
                  <a:schemeClr val="dk1"/>
                </a:solidFill>
              </a:rPr>
              <a:t>— Chassis (шасси, тормоза)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3650">
                <a:solidFill>
                  <a:schemeClr val="dk1"/>
                </a:solidFill>
              </a:rPr>
              <a:t>• B </a:t>
            </a:r>
            <a:r>
              <a:rPr lang="ru" sz="3750">
                <a:solidFill>
                  <a:schemeClr val="dk1"/>
                </a:solidFill>
              </a:rPr>
              <a:t>— Body (кузов, безопасность)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• </a:t>
            </a:r>
            <a:r>
              <a:rPr b="1" lang="ru" sz="3650">
                <a:solidFill>
                  <a:schemeClr val="dk1"/>
                </a:solidFill>
              </a:rPr>
              <a:t>U </a:t>
            </a:r>
            <a:r>
              <a:rPr lang="ru" sz="3750">
                <a:solidFill>
                  <a:schemeClr val="dk1"/>
                </a:solidFill>
              </a:rPr>
              <a:t>— Network (сети)</a:t>
            </a:r>
            <a:endParaRPr sz="37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3031">
                <a:solidFill>
                  <a:schemeClr val="dk1"/>
                </a:solidFill>
              </a:rPr>
              <a:t>В БД реализовано: 30 ошибок в 10 категориях </a:t>
            </a:r>
            <a:endParaRPr sz="303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56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Выбор СУБД </a:t>
            </a:r>
            <a:endParaRPr b="1" sz="282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PostgreSQL		Open Source 		Расширяемость, стандарты SQL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MySQL        		GPL                		Простота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Oracle 		Commercia</a:t>
            </a:r>
            <a:r>
              <a:rPr lang="ru">
                <a:solidFill>
                  <a:schemeClr val="dk1"/>
                </a:solidFill>
              </a:rPr>
              <a:t>l 			</a:t>
            </a:r>
            <a:r>
              <a:rPr lang="ru">
                <a:solidFill>
                  <a:schemeClr val="dk1"/>
                </a:solidFill>
              </a:rPr>
              <a:t>Масштабируемость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250">
                <a:solidFill>
                  <a:schemeClr val="dk1"/>
                </a:solidFill>
              </a:rPr>
              <a:t>Преимущества PostgreSQL:</a:t>
            </a:r>
            <a:endParaRPr b="1" sz="2250"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3652"/>
              <a:buChar char="●"/>
            </a:pPr>
            <a:r>
              <a:rPr lang="ru">
                <a:solidFill>
                  <a:schemeClr val="dk1"/>
                </a:solidFill>
              </a:rPr>
              <a:t> </a:t>
            </a:r>
            <a:r>
              <a:rPr lang="ru" sz="1584">
                <a:solidFill>
                  <a:schemeClr val="dk1"/>
                </a:solidFill>
              </a:rPr>
              <a:t>ACID-совместимость</a:t>
            </a:r>
            <a:endParaRPr sz="1584">
              <a:solidFill>
                <a:schemeClr val="dk1"/>
              </a:solidFill>
            </a:endParaRPr>
          </a:p>
          <a:p>
            <a:pPr indent="-3216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584">
                <a:solidFill>
                  <a:schemeClr val="dk1"/>
                </a:solidFill>
              </a:rPr>
              <a:t> Хранимые процедуры и триггеры</a:t>
            </a:r>
            <a:endParaRPr sz="1584">
              <a:solidFill>
                <a:schemeClr val="dk1"/>
              </a:solidFill>
            </a:endParaRPr>
          </a:p>
          <a:p>
            <a:pPr indent="-3216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584">
                <a:solidFill>
                  <a:schemeClr val="dk1"/>
                </a:solidFill>
              </a:rPr>
              <a:t> Сложные типы данных (JSONB, UUID)</a:t>
            </a:r>
            <a:endParaRPr sz="1584">
              <a:solidFill>
                <a:schemeClr val="dk1"/>
              </a:solidFill>
            </a:endParaRPr>
          </a:p>
          <a:p>
            <a:pPr indent="-3216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584">
                <a:solidFill>
                  <a:schemeClr val="dk1"/>
                </a:solidFill>
              </a:rPr>
              <a:t> Ролевая модель безопасности</a:t>
            </a:r>
            <a:endParaRPr sz="1584">
              <a:solidFill>
                <a:schemeClr val="dk1"/>
              </a:solidFill>
            </a:endParaRPr>
          </a:p>
          <a:p>
            <a:pPr indent="-3216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584">
                <a:solidFill>
                  <a:schemeClr val="dk1"/>
                </a:solidFill>
              </a:rPr>
              <a:t> Бесплатность </a:t>
            </a:r>
            <a:endParaRPr sz="1584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 title="erd_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124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Структура БД и разграничение доступа </a:t>
            </a:r>
            <a:endParaRPr b="1" sz="282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771475"/>
            <a:ext cx="8520600" cy="4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7200">
                <a:solidFill>
                  <a:schemeClr val="dk1"/>
                </a:solidFill>
              </a:rPr>
              <a:t>Основные таблицы: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error_categories — Категории ошибок OBD2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errors — Ошибки OBD2 с описаниями и решениями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cars — Автомобили различных марок и моделей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car_errors — Связь машин с характерными ошибками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users — Пользователи системы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favorites — Избранное пользователей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service_records — Сервисная история обслуживания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notifications — Уведомления пользователям</a:t>
            </a:r>
            <a:endParaRPr sz="4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7200">
                <a:solidFill>
                  <a:schemeClr val="dk1"/>
                </a:solidFill>
              </a:rPr>
              <a:t>Роли пользователей: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car_admin — Полный доступ ко всем объектам БД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app_user — Чтение машин и ошибок, управление избранным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service_user — Чтение всех данных, выполнение аналитических функций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9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Программная логика БД</a:t>
            </a:r>
            <a:endParaRPr b="1" sz="2820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622600"/>
            <a:ext cx="8520600" cy="43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Хранимые процедуры (3):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add_service_record — добавление записи в сервисную историю с транзакцией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add_multiple_favorites — массовое добавление ошибок в избранное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archive_old_notifications — архивация старых уведомлений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Пользовательские функции (3):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get_error_stats() — статистика ошибок по машине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get_user_favorite_count() — подсчёт избранного пользователя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calculate_repair_score() — индекс сложности ремонта (0-14 баллов)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Тёриггеры (3):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trg_errors_update — автообновление поля updated_at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trg_validate_error_code — валидация формата кода OBD2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trg_users_update — автообновление временных меток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Представления VIEW (3):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vw_car_errors_full — полная информация об ошибках машин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vw_user_favorites — избранное пользователей с деталями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vw_service_statistics — статистика сервисного обслуживания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17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Результаты работы</a:t>
            </a:r>
            <a:endParaRPr b="1" sz="2820"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820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Тестирование: 16 тестовых запросов</a:t>
            </a:r>
            <a:endParaRPr b="1"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Выполнено: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8 таблиц в третьей нормальной форме (3NF)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3 хранимые процедуры с транзакциями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3 пользовательские функции для аналитики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3 триггера для автоматизации и валидации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3 представления VIEW для упрощения запросов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3 роли пользователей с разграничением прав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Практическая значимость:</a:t>
            </a:r>
            <a:endParaRPr b="1"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База данных может использоваться в: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Мобильных приложениях для диагностики автомобилей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Сервисах технического обслуживания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Системах мониторинга автопарков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Перспективы развития:</a:t>
            </a:r>
            <a:endParaRPr b="1"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Интеграция с реальными OBD2-адаптерами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Добавление машинного обучения для предсказания ошибок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Расширение БД до 100+ ошибок и 50+ моделей автомобилей</a:t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120"/>
              <a:t>Ссылка на репозиторий: https://github.com/Xaika1/car-analytics-db</a:t>
            </a:r>
            <a:endParaRPr sz="21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20"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 title="qr_repository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2750" y="1152463"/>
            <a:ext cx="3038475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